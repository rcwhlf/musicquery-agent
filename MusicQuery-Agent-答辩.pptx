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均匀随机分布（示意）</c:v>
                </c:pt>
              </c:strCache>
            </c:strRef>
          </c:tx>
          <c:spPr>
            <a:solidFill>
              <a:srgbClr val="C9C2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1F35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第 1 名</c:v>
                  </c:pt>
                  <c:pt idx="1">
                    <c:v>第 2 名</c:v>
                  </c:pt>
                  <c:pt idx="2">
                    <c:v>第 3 名</c:v>
                  </c:pt>
                  <c:pt idx="3">
                    <c:v>第 4 名</c:v>
                  </c:pt>
                  <c:pt idx="4">
                    <c:v>第 5 名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19</c:v>
                </c:pt>
                <c:pt idx="2">
                  <c:v>19</c:v>
                </c:pt>
                <c:pt idx="3">
                  <c:v>19</c:v>
                </c:pt>
                <c:pt idx="4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对数正态热度分布（真实曲库实测）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1F35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第 1 名</c:v>
                  </c:pt>
                  <c:pt idx="1">
                    <c:v>第 2 名</c:v>
                  </c:pt>
                  <c:pt idx="2">
                    <c:v>第 3 名</c:v>
                  </c:pt>
                  <c:pt idx="3">
                    <c:v>第 4 名</c:v>
                  </c:pt>
                  <c:pt idx="4">
                    <c:v>第 5 名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132</c:v>
                </c:pt>
                <c:pt idx="1">
                  <c:v>101</c:v>
                </c:pt>
                <c:pt idx="2">
                  <c:v>100</c:v>
                </c:pt>
                <c:pt idx="3">
                  <c:v>83</c:v>
                </c:pt>
                <c:pt idx="4">
                  <c:v>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41F35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8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B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6A8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50">
              <a:solidFill>
                <a:srgbClr val="241F35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各位老师好。我答辩的项目是 MusicQuery Agent——基于自然语言交互的音乐作品库智能查询系统。一句话定位：用户用中文提问，系统自动把问题转成 SQL、查询 MySQL 数据库，再用不超过 50 字的自然语言回答。整个项目里，数据库设计是核心，Agent 只是交互层。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系统是一条完整闭环：中文提问先经过意图判断这道守门员，无关问题直接礼貌拒绝；相关问题由大模型依据真实表结构生成 SQL，经三道安全防线校验后执行，执行失败还能把报错回传给大模型自动修正；最后把查询结果翻译成 50 字以内的自然语言回答。技术栈全部是课程内学过的 MySQL，加上 Python 生态的 Streamlit 网页界面。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数据库一共 6 张表：歌手、专辑、歌曲、用户四张维度表，加一张事实表 play_records——一条记录代表一次播放，查询路径像星星一样从事实表向四周发散，按歌曲、按用户、按时间统计都很自然。第六张 query_logs 是 Agent 自己的查询日志表，记录每次的问题、生成的 SQL、是否成功和耗时。全部表使用 InnoDB 并建了外键约束，引用完整性由数据库本身保证，而不是靠应用程序自觉。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讲四个决策。第一，受控冗余：songs 表同时存了专辑 ID 和歌手 ID，按歌手查歌不需要绕道专辑表做二次 JOIN，代价是一致性要靠导入层保证，这是有意识的取舍。第二，整体满足三范式，名字类的冗余信息都不存。第三，专辑类型用 ENUM 枚举，在数据库层就挡住脏数据。第四，事实表主键用 BIGINT，因为它增长最快。右侧是测试数据规模：50 歌手、100 专辑、500 歌曲、200 用户、5000 条播放记录，与任务书要求完全一致。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四个索引全部对应真实的高频查询：两个单列索引解决按歌手查、按时间查；两个复合索引里，genre 和年份的顺序遵循最左前缀原则——等值高选择性的 genre 放左边。右下角是重点：我在这台机器的 MySQL 8.4 上跑过 EXPLAIN，三个代表性查询分别命中了设计的索引；最漂亮的是 song_id 加时间的查询，优化器在两个候选索引里自己选了复合索引，而且显示 Using index，说明是覆盖索引，连回表都省了。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分四步。第一步意图判断，用一个小 Prompt 让模型只回答 YES 或 NO，无关问题一步拦截。第二步 SQL 生成，把建表语句全文和字段说明都写进提示词，并加了严格规则。第三步是核心，先做安全校验再执行，执行出错就把报错原文回传给大模型修正重试，最多两次，高亮卡片就是这一步。第四步把结果转成 JSON 传给模型，输出 50 字以内的中文结论。底部是个工程细节：提示词里的表结构是运行时直接读 schema.sql 的，改了表结构提示词自动跟着变，保证单一数据源。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安全是答辩老师最关心的问题，我们做了三道防线：第一，语句白名单，只放行 SELECT 开头的查询；第二，关键词黑名单，用正则拦住 DROP、DELETE、UPDATE 这些高危词；第三，全程留痕，query_logs 把每次请求连同是否被拦截都记下来，出了问题可以追溯。右边是失败自动修正的闭环：执行出错时把报错原文回传给大模型，修正后重新走一遍安全校验，最多两次。比如要求它删除所有播放记录，DELETE 一命中黑名单就直接被拒。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演示按由浅入深来：先演示流派筛选——选摇滚再问播放量前五，筛选条件直接写进 SQL；再只输入周杰伦三个字，光杆歌手名也能默认查出他的歌；然后演示两个特殊场景——问天气，会被意图判断礼貌拒绝；要求删除播放记录，会被黑名单拦截，并且能在侧边栏历史里看到这条 is_success 为 0 的记录，历史还支持单条删除与清空。左边是界面布局：下方三块分别展示生成的 SQL、结果表格和自然语言回答，右侧是运行状态和历史。为了防止教室网络问题，我准备了手机热点和一组成功截图做兜底。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数据设计的一个亮点。最初的测试数据是完全均匀随机生成的，五百首歌分五千次播放，每首平均十次，前五名全都挤在二十次左右并列——排名本身没有信息量。真实音乐产品的播放量是长尾的：少数爆款占大头，大量歌曲只有个位数播放。所以我们改用对数正态分布模拟热度，现在曲库换成了真实公开数据，头部是 BTS 的《Euphoria》132 次，长尾歌曲个位数。播放行为属于隐私数据无法获得真实日志，按真实统计规律仿真——这一点照实说明反而显得专业。数据量仍是任务书要求的 5000 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最后总结：项目交付了 6 张表的完整数据库设计、4 个经 EXPLAIN 实证的索引、三道安全防线和最多两次的失败自动重试。改进方向也想清楚了：把应用账号限制成只读、用 few-shot 示例提升复杂问句的准确率、再加缓存和连接池。我的汇报到此结束，谢谢各位老师。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051560"/>
            <a:ext cx="4754880" cy="4754880"/>
          </a:xfrm>
          <a:prstGeom prst="ellipse">
            <a:avLst/>
          </a:prstGeom>
          <a:noFill/>
          <a:ln w="19050">
            <a:solidFill>
              <a:srgbClr val="2E26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1554480"/>
            <a:ext cx="3749040" cy="3749040"/>
          </a:xfrm>
          <a:prstGeom prst="ellipse">
            <a:avLst/>
          </a:prstGeom>
          <a:noFill/>
          <a:ln w="15875">
            <a:solidFill>
              <a:srgbClr val="383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2057400"/>
            <a:ext cx="2743200" cy="2743200"/>
          </a:xfrm>
          <a:prstGeom prst="ellipse">
            <a:avLst/>
          </a:prstGeom>
          <a:noFill/>
          <a:ln w="15875">
            <a:solidFill>
              <a:srgbClr val="453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560320"/>
            <a:ext cx="1737360" cy="1737360"/>
          </a:xfrm>
          <a:prstGeom prst="ellipse">
            <a:avLst/>
          </a:prstGeom>
          <a:noFill/>
          <a:ln w="15875">
            <a:solidFill>
              <a:srgbClr val="5346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17736" y="3236976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E:/musicquery-agent/logo/logo-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660" y="2628900"/>
            <a:ext cx="1600200" cy="1600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691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数据库系统课程 · 项目答辩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1031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MusicQuery Agent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640080" y="329184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B9B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基于自然语言交互的音乐作品库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B9B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智能查询系统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核心思路：</a:t>
            </a:r>
            <a:pPr indent="0" marL="0">
              <a:buNone/>
            </a:pPr>
            <a:r>
              <a:rPr lang="en-US" sz="1500" dirty="0">
                <a:solidFill>
                  <a:srgbClr val="B9B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数据库设计是核心，Agent 是交互层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汇报人：________　　　指导教师：________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系统定位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用中文提问，返回自然语言答案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F1EEFA"/>
          </a:solidFill>
          <a:ln w="12700">
            <a:solidFill>
              <a:srgbClr val="5B4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83464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（中文）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31720" y="2606040"/>
            <a:ext cx="18105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1EE"/>
            </a:solidFill>
            <a:prstDash val="solid"/>
          </a:ln>
          <a:effectLst>
            <a:outerShdw sx="100000" sy="100000" kx="0" ky="0" algn="bl" rotWithShape="0" blurRad="88900" dist="25400" dir="5400000">
              <a:srgbClr val="241F3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96312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B4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496312" y="32186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意图判断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496312" y="35661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守门员判定相关性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42232" y="3383280"/>
            <a:ext cx="109728" cy="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51960" y="2606040"/>
            <a:ext cx="18105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1EE"/>
            </a:solidFill>
            <a:prstDash val="solid"/>
          </a:ln>
          <a:effectLst>
            <a:outerShdw sx="100000" sy="100000" kx="0" ky="0" algn="bl" rotWithShape="0" blurRad="88900" dist="25400" dir="5400000">
              <a:srgbClr val="241F3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16552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B4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416552" y="32186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生成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416552" y="35661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DDL 写入 Prompt，仅允许 SELECT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62472" y="3383280"/>
            <a:ext cx="109728" cy="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2606040"/>
            <a:ext cx="18105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1EE"/>
            </a:solidFill>
            <a:prstDash val="solid"/>
          </a:ln>
          <a:effectLst>
            <a:outerShdw sx="100000" sy="100000" kx="0" ky="0" algn="bl" rotWithShape="0" blurRad="88900" dist="25400" dir="5400000">
              <a:srgbClr val="241F35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36792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B4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336792" y="32186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执行校验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336792" y="35661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 + 失败自动重试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82712" y="3383280"/>
            <a:ext cx="109728" cy="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92440" y="2606040"/>
            <a:ext cx="181051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1EE"/>
            </a:solidFill>
            <a:prstDash val="solid"/>
          </a:ln>
          <a:effectLst>
            <a:outerShdw sx="100000" sy="100000" kx="0" ky="0" algn="bl" rotWithShape="0" blurRad="88900" dist="25400" dir="5400000">
              <a:srgbClr val="241F35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57032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B4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257032" y="32186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257032" y="356616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50 字以内中文结论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920240" y="3383280"/>
            <a:ext cx="393192" cy="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259568" y="2834640"/>
            <a:ext cx="1380744" cy="1097280"/>
          </a:xfrm>
          <a:prstGeom prst="roundRect">
            <a:avLst>
              <a:gd name="adj" fmla="val 6667"/>
            </a:avLst>
          </a:prstGeom>
          <a:solidFill>
            <a:srgbClr val="5B4AA8"/>
          </a:solidFill>
          <a:ln w="12700">
            <a:solidFill>
              <a:srgbClr val="5B4A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59568" y="2834640"/>
            <a:ext cx="1380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067544" y="3383280"/>
            <a:ext cx="173736" cy="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0" y="4892040"/>
            <a:ext cx="12188952" cy="1051560"/>
          </a:xfrm>
          <a:prstGeom prst="rect">
            <a:avLst/>
          </a:prstGeom>
          <a:solidFill>
            <a:srgbClr val="F1EEF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8920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　</a:t>
            </a:r>
            <a:pPr indent="0" marL="0">
              <a:buNone/>
            </a:pPr>
            <a:r>
              <a:rPr lang="en-US" sz="145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3.10+ · MySQL 8.4 · PyMySQL · Streamlit · 智谱 GLM-4-Flash（免费档，OpenAI 兼容）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11356848" y="6327648"/>
            <a:ext cx="329184" cy="329184"/>
          </a:xfrm>
          <a:prstGeom prst="ellipse">
            <a:avLst/>
          </a:prstGeom>
          <a:noFill/>
          <a:ln w="15875">
            <a:solidFill>
              <a:srgbClr val="E4E1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356848" y="6327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数据库设计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张业务表 + 1 张日志表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92024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5875">
            <a:solidFill>
              <a:srgbClr val="5B4A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90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artists 歌手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68096" y="1819656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artist_id (PK)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 · country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debut_year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192024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5875">
            <a:solidFill>
              <a:srgbClr val="5B4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28416" y="1490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albums 专辑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28416" y="1819656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album_id (PK)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title · artist_id (FK)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release_date · album_type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417320"/>
            <a:ext cx="192024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5875">
            <a:solidFill>
              <a:srgbClr val="5B4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88736" y="14904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songs 歌曲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888736" y="1819656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song_id (PK)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album_id FK · artist_id FK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duration_sec · genre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release_year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92024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5875">
            <a:solidFill>
              <a:srgbClr val="5B4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45079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 用户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8096" y="4837176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 (PK)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nickname · city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register_date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4434840"/>
            <a:ext cx="1920240" cy="1517904"/>
          </a:xfrm>
          <a:prstGeom prst="roundRect">
            <a:avLst>
              <a:gd name="adj" fmla="val 3614"/>
            </a:avLst>
          </a:prstGeom>
          <a:solidFill>
            <a:srgbClr val="FDF3E1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45079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6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play_records 播放记录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28416" y="4837176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record_id (PK)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song_id FK · user_id FK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play_time · device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4434840"/>
            <a:ext cx="192024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5875">
            <a:solidFill>
              <a:srgbClr val="5B4AA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5888736" y="45079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query_logs 查询日志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888736" y="4837176"/>
            <a:ext cx="1700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user_question · sql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is_success · 耗时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每次查询写入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2176272"/>
            <a:ext cx="640080" cy="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1828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: 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2176272"/>
            <a:ext cx="640080" cy="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1828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: 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00200" y="2935224"/>
            <a:ext cx="0" cy="813816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3749040"/>
            <a:ext cx="5120640" cy="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2935224"/>
            <a:ext cx="0" cy="813816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0360" y="3803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artist_id 直连（1 : N）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H="1">
            <a:off x="5166360" y="2935224"/>
            <a:ext cx="822960" cy="1499616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song_id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560320" y="5193792"/>
            <a:ext cx="640080" cy="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42032" y="48646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: 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1447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琥珀色 = 事实表 play_records：一条记录代表一次播放，与维度表构成星型访问结构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92440" y="155448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职责单一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张业务表各司其职，query_logs 独立记录 Agent 行为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8092440" y="3035808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引用完整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InnoDB 引擎 + 外键约束，非法数据写不进来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092440" y="4517136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星型访问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事实表居中，按歌曲、用户、时间多路径统计都清晰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11356848" y="6327648"/>
            <a:ext cx="329184" cy="329184"/>
          </a:xfrm>
          <a:prstGeom prst="ellipse">
            <a:avLst/>
          </a:prstGeom>
          <a:noFill/>
          <a:ln w="15875">
            <a:solidFill>
              <a:srgbClr val="E4E1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356848" y="6327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表结构设计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四个关键设计决策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受控冗余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songs 同时持有 album_id 与 artist_id：按歌手查歌免二次 JOIN，一致性由导入层保证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满足三范式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各表非主属性完全、直接依赖于主键；专辑与歌曲中的歌手信息只存 ID 不存名字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6400800" cy="0"/>
          </a:xfrm>
          <a:prstGeom prst="line">
            <a:avLst/>
          </a:prstGeom>
          <a:noFill/>
          <a:ln w="12700">
            <a:solidFill>
              <a:srgbClr val="E4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2219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ENUM 约束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album_type 取值限定 studio / live / compilation，在数据库层挡住脏数据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40080" y="3712464"/>
            <a:ext cx="6400800" cy="0"/>
          </a:xfrm>
          <a:prstGeom prst="line">
            <a:avLst/>
          </a:prstGeom>
          <a:noFill/>
          <a:ln w="12700">
            <a:solidFill>
              <a:srgbClr val="E4E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992624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事实表用 BIGINT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play_records 增长最快，BIGINT 主键为规模化预留空间（INT 上限约 21 亿）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0080" y="4882896"/>
            <a:ext cx="6400800" cy="0"/>
          </a:xfrm>
          <a:prstGeom prst="line">
            <a:avLst/>
          </a:prstGeom>
          <a:noFill/>
          <a:ln w="12700">
            <a:solidFill>
              <a:srgbClr val="E4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测试数据规模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35240" y="182880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464040" y="19568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歌手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35240" y="2670048"/>
            <a:ext cx="3840480" cy="0"/>
          </a:xfrm>
          <a:prstGeom prst="line">
            <a:avLst/>
          </a:prstGeom>
          <a:noFill/>
          <a:ln w="12700">
            <a:solidFill>
              <a:srgbClr val="E4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272491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464040" y="28529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35240" y="3566160"/>
            <a:ext cx="3840480" cy="0"/>
          </a:xfrm>
          <a:prstGeom prst="line">
            <a:avLst/>
          </a:prstGeom>
          <a:noFill/>
          <a:ln w="12700">
            <a:solidFill>
              <a:srgbClr val="E4E1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362102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464040" y="3749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歌曲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4462272"/>
            <a:ext cx="3840480" cy="0"/>
          </a:xfrm>
          <a:prstGeom prst="line">
            <a:avLst/>
          </a:prstGeom>
          <a:noFill/>
          <a:ln w="12700">
            <a:solidFill>
              <a:srgbClr val="E4E1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451713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464040" y="4645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35240" y="5358384"/>
            <a:ext cx="3840480" cy="0"/>
          </a:xfrm>
          <a:prstGeom prst="line">
            <a:avLst/>
          </a:prstGeom>
          <a:noFill/>
          <a:ln w="12700">
            <a:solidFill>
              <a:srgbClr val="E4E1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54132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9464040" y="5577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播放记录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356848" y="6327648"/>
            <a:ext cx="329184" cy="329184"/>
          </a:xfrm>
          <a:prstGeom prst="ellipse">
            <a:avLst/>
          </a:prstGeom>
          <a:noFill/>
          <a:ln w="15875">
            <a:solidFill>
              <a:srgbClr val="E4E1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56848" y="6327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索引设计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为高频查询建索引，并用 EXPLAIN 验证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3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idx_songs_artist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703320" y="13898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songs(artist_id)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78040" y="138988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按歌手查歌曲、按歌手统计播放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10927080" cy="0"/>
          </a:xfrm>
          <a:prstGeom prst="line">
            <a:avLst/>
          </a:prstGeom>
          <a:noFill/>
          <a:ln w="12700">
            <a:solidFill>
              <a:srgbClr val="E4E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3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idx_songs_genre_year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703320" y="21031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songs(genre, release_year) 复合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78040" y="21031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流派 + 年份组合筛选，最左前缀原则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0927080" cy="0"/>
          </a:xfrm>
          <a:prstGeom prst="line">
            <a:avLst/>
          </a:prstGeom>
          <a:noFill/>
          <a:ln w="12700">
            <a:solidFill>
              <a:srgbClr val="E4E1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1635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3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idx_play_time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03320" y="281635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play_records(play_time)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78040" y="281635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按时间范围过滤播放记录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456432"/>
            <a:ext cx="10927080" cy="0"/>
          </a:xfrm>
          <a:prstGeom prst="line">
            <a:avLst/>
          </a:prstGeom>
          <a:noFill/>
          <a:ln w="12700">
            <a:solidFill>
              <a:srgbClr val="E4E1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295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3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idx_play_song_time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703320" y="352958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play_records(song_id, play_time) 复合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78040" y="35295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单曲播放量统计：先等值再范围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434840"/>
            <a:ext cx="12188952" cy="1874520"/>
          </a:xfrm>
          <a:prstGeom prst="rect">
            <a:avLst/>
          </a:prstGeom>
          <a:solidFill>
            <a:srgbClr val="F1EEF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EXPLAIN 实证（本机 MySQL 8.4.9）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956048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genre + 年份　→ type=range，命中 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idx_songs_genre_year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，Using index condition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song_id + 时间 → 优化器选中复合索引 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idx_play_song_time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，Using index（覆盖索引，免回表）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play_time　　→ type=range，命中 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idx_play_time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，扫描行数 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数据来源：music_query 库 EXPLAIN 实测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356848" y="6327648"/>
            <a:ext cx="329184" cy="329184"/>
          </a:xfrm>
          <a:prstGeom prst="ellipse">
            <a:avLst/>
          </a:prstGeom>
          <a:noFill/>
          <a:ln w="15875">
            <a:solidFill>
              <a:srgbClr val="E4E1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56848" y="6327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Agent 流程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四步流水线：从问题到回答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15184" cy="36118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4E1EE"/>
            </a:solidFill>
            <a:prstDash val="solid"/>
          </a:ln>
          <a:effectLst>
            <a:outerShdw sx="100000" sy="100000" kx="0" ky="0" algn="bl" rotWithShape="0" blurRad="88900" dist="25400" dir="5400000">
              <a:srgbClr val="241F3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727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21762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意图判断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只回答 YES / NO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无关问题直接拦截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提示“与音乐数据库无关”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64992" y="1371600"/>
            <a:ext cx="2615184" cy="36118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4E1EE"/>
            </a:solidFill>
            <a:prstDash val="solid"/>
          </a:ln>
          <a:effectLst>
            <a:outerShdw sx="100000" sy="100000" kx="0" ky="0" algn="bl" rotWithShape="0" blurRad="88900" dist="25400" dir="5400000">
              <a:srgbClr val="241F3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5727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66160" y="21762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生成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566160" y="26974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建表 DDL 全文进 Prompt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严格规则：仅允许 SELECT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剥离代码块与多余解释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81344" y="1371600"/>
            <a:ext cx="2615184" cy="3611880"/>
          </a:xfrm>
          <a:prstGeom prst="roundRect">
            <a:avLst>
              <a:gd name="adj" fmla="val 3147"/>
            </a:avLst>
          </a:prstGeom>
          <a:solidFill>
            <a:srgbClr val="F1EEFA"/>
          </a:solidFill>
          <a:ln w="19050">
            <a:solidFill>
              <a:srgbClr val="5B4AA8"/>
            </a:solidFill>
            <a:prstDash val="solid"/>
          </a:ln>
          <a:effectLst>
            <a:outerShdw sx="100000" sy="100000" kx="0" ky="0" algn="bl" rotWithShape="0" blurRad="88900" dist="25400" dir="5400000">
              <a:srgbClr val="241F3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5727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82512" y="21762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执行校验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382512" y="26974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 + 黑名单双校验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报错回传 LLM 自动修正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最多重试 2 次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97696" y="1371600"/>
            <a:ext cx="2615184" cy="361188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4E1EE"/>
            </a:solidFill>
            <a:prstDash val="solid"/>
          </a:ln>
          <a:effectLst>
            <a:outerShdw sx="100000" sy="100000" kx="0" ky="0" algn="bl" rotWithShape="0" blurRad="88900" dist="25400" dir="5400000">
              <a:srgbClr val="241F35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98864" y="157276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4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98864" y="217627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198864" y="269748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结果转 JSON，截取前 15 条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≤50 字中文结论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解释失败不影响查询本身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5349240"/>
            <a:ext cx="12188952" cy="868680"/>
          </a:xfrm>
          <a:prstGeom prst="rect">
            <a:avLst/>
          </a:prstGeom>
          <a:solidFill>
            <a:srgbClr val="E9E4F7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3492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单一数据源　</a:t>
            </a:r>
            <a:pPr indent="0" marL="0">
              <a:buNone/>
            </a:pPr>
            <a:r>
              <a:rPr lang="en-US" sz="1400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中的表结构运行时直接读取 db/schema.sql —— 修改表结构无需同步修改提示词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356848" y="6327648"/>
            <a:ext cx="329184" cy="329184"/>
          </a:xfrm>
          <a:prstGeom prst="ellipse">
            <a:avLst/>
          </a:prstGeom>
          <a:noFill/>
          <a:ln w="15875">
            <a:solidFill>
              <a:srgbClr val="E4E1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56848" y="6327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安全设计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三道防线，挡住 LLM 的“手滑”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08760" y="1517904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语句白名单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只放行 SELECT / WITH 开头的查询，其余一律拒绝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" y="299008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2935224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关键词黑名单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正则拦截 DROP、DELETE、UPDATE、INSERT、ALTER、TRUNCATE 等高危词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40080" y="440740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4352544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全程留痕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query_logs 记录问题、SQL、是否成功、耗时——被拦截的请求同样可追溯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537960" y="1463040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5B4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630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SQL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37960" y="2395728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5B4A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3957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安全校验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37960" y="3328416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5B4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3284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37960" y="4261104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5B4AA8"/>
          </a:solidFill>
          <a:ln w="12700">
            <a:solidFill>
              <a:srgbClr val="5B4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261104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写日志 · 返回结果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516368" y="2011680"/>
            <a:ext cx="0" cy="36576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635240" y="20482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16368" y="2944368"/>
            <a:ext cx="0" cy="36576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635240" y="29809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16368" y="3877056"/>
            <a:ext cx="0" cy="36576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635240" y="3913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81160" y="3328416"/>
            <a:ext cx="1965960" cy="548640"/>
          </a:xfrm>
          <a:prstGeom prst="roundRect">
            <a:avLst>
              <a:gd name="adj" fmla="val 11667"/>
            </a:avLst>
          </a:prstGeom>
          <a:solidFill>
            <a:srgbClr val="FDF3E1"/>
          </a:solidFill>
          <a:ln w="12700">
            <a:solidFill>
              <a:srgbClr val="5B4A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1160" y="332841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报错回传 LLM 修正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522208" y="3602736"/>
            <a:ext cx="740664" cy="0"/>
          </a:xfrm>
          <a:prstGeom prst="line">
            <a:avLst/>
          </a:prstGeom>
          <a:noFill/>
          <a:ln w="19050">
            <a:solidFill>
              <a:srgbClr val="6F6A8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613648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259568" y="2670048"/>
            <a:ext cx="0" cy="640080"/>
          </a:xfrm>
          <a:prstGeom prst="line">
            <a:avLst/>
          </a:prstGeom>
          <a:noFill/>
          <a:ln w="19050">
            <a:solidFill>
              <a:srgbClr val="9A6A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22208" y="2670048"/>
            <a:ext cx="1737360" cy="0"/>
          </a:xfrm>
          <a:prstGeom prst="line">
            <a:avLst/>
          </a:prstGeom>
          <a:noFill/>
          <a:ln w="19050">
            <a:solidFill>
              <a:srgbClr val="9A6A12"/>
            </a:solidFill>
            <a:prstDash val="solid"/>
            <a:headEnd type="triangle"/>
          </a:ln>
        </p:spPr>
      </p:sp>
      <p:sp>
        <p:nvSpPr>
          <p:cNvPr id="30" name="Text 28"/>
          <p:cNvSpPr/>
          <p:nvPr/>
        </p:nvSpPr>
        <p:spPr>
          <a:xfrm>
            <a:off x="8732520" y="2340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6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修正后重新校验（≤ 2 次）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37960" y="50749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示例：要求“删除所有播放记录”时，DELETE 命中黑名单，请求被拒并写入日志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1356848" y="6327648"/>
            <a:ext cx="329184" cy="329184"/>
          </a:xfrm>
          <a:prstGeom prst="ellipse">
            <a:avLst/>
          </a:prstGeom>
          <a:noFill/>
          <a:ln w="15875">
            <a:solidFill>
              <a:srgbClr val="E4E1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356848" y="6327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现场演示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演示脚本：由浅入深 + 两个特殊场景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98932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5875">
            <a:solidFill>
              <a:srgbClr val="E4E1EE"/>
            </a:solidFill>
            <a:prstDash val="solid"/>
          </a:ln>
          <a:effectLst>
            <a:outerShdw sx="100000" sy="100000" kx="0" ky="0" algn="bl" rotWithShape="0" blurRad="101600" dist="25400" dir="5400000">
              <a:srgbClr val="241F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MusicQuery 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3886200" cy="402336"/>
          </a:xfrm>
          <a:prstGeom prst="roundRect">
            <a:avLst>
              <a:gd name="adj" fmla="val 15909"/>
            </a:avLst>
          </a:prstGeom>
          <a:noFill/>
          <a:ln w="15875">
            <a:solidFill>
              <a:srgbClr val="E4E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请输入你的问题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685800" cy="402336"/>
          </a:xfrm>
          <a:prstGeom prst="roundRect">
            <a:avLst>
              <a:gd name="adj" fmla="val 15909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92024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542032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4E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6334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生成的 SQL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 s.title, COUNT(*) … LIMIT 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47472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E4E1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661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查询结果（表格）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5 条记录 · SQL 执行 12 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407408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1EEFA"/>
          </a:solidFill>
          <a:ln w="15875">
            <a:solidFill>
              <a:srgbClr val="E4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4988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自然语言回答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《Euphoria》以 132 次播放居首……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3560" y="1920240"/>
            <a:ext cx="0" cy="3931920"/>
          </a:xfrm>
          <a:prstGeom prst="line">
            <a:avLst/>
          </a:prstGeom>
          <a:noFill/>
          <a:ln w="12700">
            <a:solidFill>
              <a:srgbClr val="E4E1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377440"/>
            <a:ext cx="777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</a:t>
            </a:r>
            <a:endParaRPr lang="en-US" sz="125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25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</a:t>
            </a:r>
            <a:endParaRPr lang="en-US" sz="125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03720" y="144475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筛选「摇滚」+ 播放量最高前 5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流派筛选写入 SQL，JOIN 排序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22860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周杰伦的歌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光杆歌手名默认查其歌曲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31272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今天天气怎么样？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意图守门员：与音乐数据库无关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396849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删除所有播放记录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黑名单拦截，日志 is_success = 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480974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侧边栏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耗时 / 状态 / 历史删除与清空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57150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兜底预案：手机热点保障外网；另备一组成功运行截图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356848" y="6327648"/>
            <a:ext cx="329184" cy="329184"/>
          </a:xfrm>
          <a:prstGeom prst="ellipse">
            <a:avLst/>
          </a:prstGeom>
          <a:noFill/>
          <a:ln w="15875">
            <a:solidFill>
              <a:srgbClr val="E4E1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56848" y="6327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数据设计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1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长尾分布：让“播放量排名”有区分度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5836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43800" y="160020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均匀随机：播放量挤在均值 ±5，前五名全是并列，排名没有信息量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543800" y="301752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9A6A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对数正态热度：头部《Euphoria》132 次、长尾歌曲个位数，贴近真实产品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543800" y="4434840"/>
            <a:ext cx="4069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3E3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曲库为真实公开数据（50 歌手/100 专辑/500 曲目）；播放行为按长尾规律仿真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8640" y="62636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数据来源：music_query 库实测查询（data/import_data.py 生成）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1356848" y="6327648"/>
            <a:ext cx="329184" cy="329184"/>
          </a:xfrm>
          <a:prstGeom prst="ellipse">
            <a:avLst/>
          </a:prstGeom>
          <a:noFill/>
          <a:ln w="15875">
            <a:solidFill>
              <a:srgbClr val="E4E1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356848" y="6327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B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请各位老师批评指正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张表 · 三范式设计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29000" y="2606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2900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个索引 · EXPLAIN 实证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17920" y="2606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21792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道安全防线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006840" y="26060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00684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3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次失败自动重试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后续改进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47548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E8E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应用账号只授 SELECT 权限，把安全防线下沉到数据库层</a:t>
            </a:r>
            <a:endParaRPr lang="en-US" sz="15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E8E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构建 few-shot 示例库，提升复杂问句的 SQL 生成准确率</a:t>
            </a:r>
            <a:endParaRPr lang="en-US" sz="15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E8E4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引入结果缓存与连接池，支撑更高并发查询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92640" y="4617720"/>
            <a:ext cx="2011680" cy="2011680"/>
          </a:xfrm>
          <a:prstGeom prst="ellipse">
            <a:avLst/>
          </a:prstGeom>
          <a:noFill/>
          <a:ln w="15875">
            <a:solidFill>
              <a:srgbClr val="2E26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4983480"/>
            <a:ext cx="1463040" cy="1463040"/>
          </a:xfrm>
          <a:prstGeom prst="ellipse">
            <a:avLst/>
          </a:prstGeom>
          <a:noFill/>
          <a:ln w="15875">
            <a:solidFill>
              <a:srgbClr val="3830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52760" y="5577840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MusicQuery Agent 答辩</dc:title>
  <dc:subject>PptxGenJS Presentation</dc:subject>
  <dc:creator>MusicQuery Agent</dc:creator>
  <cp:lastModifiedBy>MusicQuery Agent</cp:lastModifiedBy>
  <cp:revision>1</cp:revision>
  <dcterms:created xsi:type="dcterms:W3CDTF">2026-09-22T08:38:07Z</dcterms:created>
  <dcterms:modified xsi:type="dcterms:W3CDTF">2026-09-22T08:38:07Z</dcterms:modified>
</cp:coreProperties>
</file>