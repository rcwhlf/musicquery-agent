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均匀随机分布</c:v>
                </c:pt>
              </c:strCache>
            </c:strRef>
          </c:tx>
          <c:spPr>
            <a:solidFill>
              <a:srgbClr val="C9C2E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41F35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第 1 名</c:v>
                  </c:pt>
                  <c:pt idx="1">
                    <c:v>第 2 名</c:v>
                  </c:pt>
                  <c:pt idx="2">
                    <c:v>第 3 名</c:v>
                  </c:pt>
                  <c:pt idx="3">
                    <c:v>第 4 名</c:v>
                  </c:pt>
                  <c:pt idx="4">
                    <c:v>第 5 名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</c:v>
                </c:pt>
                <c:pt idx="1">
                  <c:v>19</c:v>
                </c:pt>
                <c:pt idx="2">
                  <c:v>19</c:v>
                </c:pt>
                <c:pt idx="3">
                  <c:v>19</c:v>
                </c:pt>
                <c:pt idx="4">
                  <c:v>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对数正态热度分布</c:v>
                </c:pt>
              </c:strCache>
            </c:strRef>
          </c:tx>
          <c:spPr>
            <a:solidFill>
              <a:srgbClr val="E8A3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41F35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第 1 名</c:v>
                  </c:pt>
                  <c:pt idx="1">
                    <c:v>第 2 名</c:v>
                  </c:pt>
                  <c:pt idx="2">
                    <c:v>第 3 名</c:v>
                  </c:pt>
                  <c:pt idx="3">
                    <c:v>第 4 名</c:v>
                  </c:pt>
                  <c:pt idx="4">
                    <c:v>第 5 名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194</c:v>
                </c:pt>
                <c:pt idx="1">
                  <c:v>160</c:v>
                </c:pt>
                <c:pt idx="2">
                  <c:v>130</c:v>
                </c:pt>
                <c:pt idx="3">
                  <c:v>112</c:v>
                </c:pt>
                <c:pt idx="4">
                  <c:v>106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41F35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F6A80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DEB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F6A80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50">
              <a:solidFill>
                <a:srgbClr val="241F35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各位老师好。我答辩的项目是 MusicQuery Agent——基于自然语言交互的音乐作品库智能查询系统。一句话定位：用户用中文提问，系统自动把问题转成 SQL、查询 MySQL 数据库，再用不超过 50 字的自然语言回答。整个项目里，数据库设计是核心，Agent 只是交互层。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系统是一条完整闭环：中文提问先经过意图判断这道守门员，无关问题直接礼貌拒绝；相关问题由大模型依据真实表结构生成 SQL，经三道安全防线校验后执行，执行失败还能把报错回传给大模型自动修正；最后把查询结果翻译成 50 字以内的自然语言回答。技术栈全部是课程内学过的 MySQL，加上 Python 生态的 Streamlit 网页界面。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数据库一共 6 张表：歌手、专辑、歌曲、用户四张维度表，加一张事实表 play_records——一条记录代表一次播放，查询路径像星星一样从事实表向四周发散，按歌曲、按用户、按时间统计都很自然。第六张 query_logs 是 Agent 自己的查询日志表，记录每次的问题、生成的 SQL、是否成功和耗时。全部表使用 InnoDB 并建了外键约束，引用完整性由数据库本身保证，而不是靠应用程序自觉。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讲四个决策。第一，受控冗余：songs 表同时存了专辑 ID 和歌手 ID，按歌手查歌不需要绕道专辑表做二次 JOIN，代价是一致性要靠导入层保证，这是有意识的取舍。第二，整体满足三范式，名字类的冗余信息都不存。第三，专辑类型用 ENUM 枚举，在数据库层就挡住脏数据。第四，事实表主键用 BIGINT，因为它增长最快。右侧是测试数据规模：50 歌手、100 专辑、500 歌曲、200 用户、5000 条播放记录，与任务书要求完全一致。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四个索引全部对应真实的高频查询：两个单列索引解决按歌手查、按时间查；两个复合索引里，genre 和年份的顺序遵循最左前缀原则——等值高选择性的 genre 放左边。右下角是重点：我在这台机器的 MySQL 8.4 上跑过 EXPLAIN，三个代表性查询分别命中了设计的索引；最漂亮的是 song_id 加时间的查询，优化器在两个候选索引里自己选了复合索引，而且显示 Using index，说明是覆盖索引，连回表都省了。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分四步。第一步意图判断，用一个小 Prompt 让模型只回答 YES 或 NO，无关问题一步拦截。第二步 SQL 生成，把建表语句全文和字段说明都写进提示词，并加了严格规则。第三步是核心，先做安全校验再执行，执行出错就把报错原文回传给大模型修正重试，最多两次，高亮卡片就是这一步。第四步把结果转成 JSON 传给模型，输出 50 字以内的中文结论。底部是个工程细节：提示词里的表结构是运行时直接读 schema.sql 的，改了表结构提示词自动跟着变，保证单一数据源。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安全是答辩老师最关心的问题，我们做了三道防线：第一，语句白名单，只放行 SELECT 开头的查询；第二，关键词黑名单，用正则拦住 DROP、DELETE、UPDATE 这些高危词；第三，全程留痕，query_logs 把每次请求连同是否被拦截都记下来，出了问题可以追溯。右边是失败自动修正的闭环：执行出错时把报错原文回传给大模型，修正后重新走一遍安全校验，最多两次。比如要求它删除所有播放记录，DELETE 一命中黑名单就直接被拒。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演示按由浅入深来：先来一个多表 JOIN 的播放量排名，再来一个 COUNT 聚合；然后演示两个特殊场景——问天气，会被意图判断礼貌拒绝；要求删除播放记录，会被黑名单拦截，并且能在侧边栏历史里看到这条 is_success 为 0 的记录。左边是界面布局：下方三块分别展示生成的 SQL、结果表格和自然语言回答，右侧是运行状态和历史。为了防止教室网络问题，我准备了手机热点和一组成功截图做兜底。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讲数据设计的一个亮点。最初的测试数据是完全均匀随机生成的，五百首歌分五千次播放，每首平均十次，前五名全都挤在二十次左右并列——排名本身没有信息量。真实音乐产品的播放量是长尾的：少数爆款占大头，大量歌曲只有个位数播放。所以我改用对数正态分布模拟热度，头部歌曲将近两百次，长尾歌曲个位数。注意数据量仍然是任务书要求的 5000 条，我们改的只是分布，不是数量。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最后总结：项目交付了 6 张表的完整数据库设计、4 个经 EXPLAIN 实证的索引、三道安全防线和最多两次的失败自动重试。改进方向也想清楚了：把应用账号限制成只读、用 few-shot 示例提升复杂问句的准确率、再加缓存和连接池。我的汇报到此结束，谢谢各位老师。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051560"/>
            <a:ext cx="4754880" cy="4754880"/>
          </a:xfrm>
          <a:prstGeom prst="ellipse">
            <a:avLst/>
          </a:prstGeom>
          <a:noFill/>
          <a:ln w="19050">
            <a:solidFill>
              <a:srgbClr val="2E26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35240" y="1554480"/>
            <a:ext cx="3749040" cy="3749040"/>
          </a:xfrm>
          <a:prstGeom prst="ellipse">
            <a:avLst/>
          </a:prstGeom>
          <a:noFill/>
          <a:ln w="15875">
            <a:solidFill>
              <a:srgbClr val="3830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38160" y="2057400"/>
            <a:ext cx="2743200" cy="2743200"/>
          </a:xfrm>
          <a:prstGeom prst="ellipse">
            <a:avLst/>
          </a:prstGeom>
          <a:noFill/>
          <a:ln w="15875">
            <a:solidFill>
              <a:srgbClr val="453A7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2560320"/>
            <a:ext cx="1737360" cy="1737360"/>
          </a:xfrm>
          <a:prstGeom prst="ellipse">
            <a:avLst/>
          </a:prstGeom>
          <a:noFill/>
          <a:ln w="15875">
            <a:solidFill>
              <a:srgbClr val="5346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17736" y="3236976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9164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数据库系统课程 · 项目答辩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103120"/>
            <a:ext cx="6400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MusicQuery Agent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640080" y="3291840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rgbClr val="B9B3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基于自然语言交互的音乐作品库</a:t>
            </a:r>
            <a:endParaRPr lang="en-US" sz="2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rgbClr val="B9B3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智能查询系统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40080" y="45720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核心思路：</a:t>
            </a:r>
            <a:pPr indent="0" marL="0">
              <a:buNone/>
            </a:pPr>
            <a:r>
              <a:rPr lang="en-US" sz="1500" dirty="0">
                <a:solidFill>
                  <a:srgbClr val="B9B3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数据库设计是核心，Agent 是交互层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5760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B3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汇报人：________　　　指导教师：________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· 系统定位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用中文提问，返回自然语言答案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1371600" cy="1097280"/>
          </a:xfrm>
          <a:prstGeom prst="roundRect">
            <a:avLst>
              <a:gd name="adj" fmla="val 6667"/>
            </a:avLst>
          </a:prstGeom>
          <a:solidFill>
            <a:srgbClr val="F1EEFA"/>
          </a:solidFill>
          <a:ln w="12700">
            <a:solidFill>
              <a:srgbClr val="5B4A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83464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E3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用户提问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3E3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（中文）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331720" y="2606040"/>
            <a:ext cx="181051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88900" dist="25400" dir="5400000">
              <a:srgbClr val="241F35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96312" y="2743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5B4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2496312" y="321868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意图判断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2496312" y="356616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守门员判定相关性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142232" y="3383280"/>
            <a:ext cx="109728" cy="0"/>
          </a:xfrm>
          <a:prstGeom prst="line">
            <a:avLst/>
          </a:prstGeom>
          <a:noFill/>
          <a:ln w="19050">
            <a:solidFill>
              <a:srgbClr val="6F6A8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251960" y="2606040"/>
            <a:ext cx="181051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88900" dist="25400" dir="5400000">
              <a:srgbClr val="241F35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416552" y="2743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5B4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4416552" y="321868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 生成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416552" y="356616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DDL 写入 Prompt，仅允许 SELECT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062472" y="3383280"/>
            <a:ext cx="109728" cy="0"/>
          </a:xfrm>
          <a:prstGeom prst="line">
            <a:avLst/>
          </a:prstGeom>
          <a:noFill/>
          <a:ln w="19050">
            <a:solidFill>
              <a:srgbClr val="6F6A8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172200" y="2606040"/>
            <a:ext cx="181051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88900" dist="25400" dir="5400000">
              <a:srgbClr val="241F35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36792" y="2743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5B4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6336792" y="321868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执行校验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336792" y="356616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三道防线 + 失败自动重试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982712" y="3383280"/>
            <a:ext cx="109728" cy="0"/>
          </a:xfrm>
          <a:prstGeom prst="line">
            <a:avLst/>
          </a:prstGeom>
          <a:noFill/>
          <a:ln w="19050">
            <a:solidFill>
              <a:srgbClr val="6F6A8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092440" y="2606040"/>
            <a:ext cx="181051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88900" dist="25400" dir="5400000">
              <a:srgbClr val="241F35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57032" y="2743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5B4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8257032" y="321868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结果解释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257032" y="356616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 50 字以内中文结论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920240" y="3383280"/>
            <a:ext cx="393192" cy="0"/>
          </a:xfrm>
          <a:prstGeom prst="line">
            <a:avLst/>
          </a:prstGeom>
          <a:noFill/>
          <a:ln w="19050">
            <a:solidFill>
              <a:srgbClr val="6F6A8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259568" y="2834640"/>
            <a:ext cx="1380744" cy="1097280"/>
          </a:xfrm>
          <a:prstGeom prst="roundRect">
            <a:avLst>
              <a:gd name="adj" fmla="val 6667"/>
            </a:avLst>
          </a:prstGeom>
          <a:solidFill>
            <a:srgbClr val="5B4AA8"/>
          </a:solidFill>
          <a:ln w="12700">
            <a:solidFill>
              <a:srgbClr val="5B4AA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259568" y="2834640"/>
            <a:ext cx="13807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回答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10067544" y="3383280"/>
            <a:ext cx="173736" cy="0"/>
          </a:xfrm>
          <a:prstGeom prst="line">
            <a:avLst/>
          </a:prstGeom>
          <a:noFill/>
          <a:ln w="19050">
            <a:solidFill>
              <a:srgbClr val="6F6A80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0" y="4892040"/>
            <a:ext cx="12188952" cy="1051560"/>
          </a:xfrm>
          <a:prstGeom prst="rect">
            <a:avLst/>
          </a:prstGeom>
          <a:solidFill>
            <a:srgbClr val="F1EEFA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4892040"/>
            <a:ext cx="10881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3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　</a:t>
            </a:r>
            <a:pPr indent="0" marL="0">
              <a:buNone/>
            </a:pPr>
            <a:r>
              <a:rPr lang="en-US" sz="1450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3.10+ · MySQL 8.4 · PyMySQL · Streamlit · 智谱 GLM-5.3-Flash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11356848" y="6327648"/>
            <a:ext cx="329184" cy="329184"/>
          </a:xfrm>
          <a:prstGeom prst="ellipse">
            <a:avLst/>
          </a:prstGeom>
          <a:noFill/>
          <a:ln w="15875">
            <a:solidFill>
              <a:srgbClr val="E4E1E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356848" y="6327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· 数据库设计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张业务表 + 1 张日志表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1920240" cy="1517904"/>
          </a:xfrm>
          <a:prstGeom prst="roundRect">
            <a:avLst>
              <a:gd name="adj" fmla="val 3614"/>
            </a:avLst>
          </a:prstGeom>
          <a:solidFill>
            <a:srgbClr val="FFFFFF"/>
          </a:solidFill>
          <a:ln w="15875">
            <a:solidFill>
              <a:srgbClr val="5B4A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49047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3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artists 歌手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68096" y="1819656"/>
            <a:ext cx="17007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artist_id (PK)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name · country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debut_year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0" y="1417320"/>
            <a:ext cx="1920240" cy="1517904"/>
          </a:xfrm>
          <a:prstGeom prst="roundRect">
            <a:avLst>
              <a:gd name="adj" fmla="val 3614"/>
            </a:avLst>
          </a:prstGeom>
          <a:solidFill>
            <a:srgbClr val="FFFFFF"/>
          </a:solidFill>
          <a:ln w="15875">
            <a:solidFill>
              <a:srgbClr val="5B4A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28416" y="149047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3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albums 专辑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28416" y="1819656"/>
            <a:ext cx="17007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album_id (PK)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title · artist_id (FK)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release_date · album_type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760720" y="1417320"/>
            <a:ext cx="1920240" cy="1517904"/>
          </a:xfrm>
          <a:prstGeom prst="roundRect">
            <a:avLst>
              <a:gd name="adj" fmla="val 3614"/>
            </a:avLst>
          </a:prstGeom>
          <a:solidFill>
            <a:srgbClr val="FFFFFF"/>
          </a:solidFill>
          <a:ln w="15875">
            <a:solidFill>
              <a:srgbClr val="5B4A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88736" y="149047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3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songs 歌曲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888736" y="1819656"/>
            <a:ext cx="17007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song_id (PK)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album_id FK · artist_id FK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duration_sec · genre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release_year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920240" cy="1517904"/>
          </a:xfrm>
          <a:prstGeom prst="roundRect">
            <a:avLst>
              <a:gd name="adj" fmla="val 3614"/>
            </a:avLst>
          </a:prstGeom>
          <a:solidFill>
            <a:srgbClr val="FFFFFF"/>
          </a:solidFill>
          <a:ln w="15875">
            <a:solidFill>
              <a:srgbClr val="5B4A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450799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3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users 用户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68096" y="4837176"/>
            <a:ext cx="17007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user_id (PK)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nickname · city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register_date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4434840"/>
            <a:ext cx="1920240" cy="1517904"/>
          </a:xfrm>
          <a:prstGeom prst="roundRect">
            <a:avLst>
              <a:gd name="adj" fmla="val 3614"/>
            </a:avLst>
          </a:prstGeom>
          <a:solidFill>
            <a:srgbClr val="FDF3E1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28416" y="450799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6A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play_records 播放记录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28416" y="4837176"/>
            <a:ext cx="17007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record_id (PK)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song_id FK · user_id FK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play_time · device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0" y="4434840"/>
            <a:ext cx="1920240" cy="1517904"/>
          </a:xfrm>
          <a:prstGeom prst="roundRect">
            <a:avLst>
              <a:gd name="adj" fmla="val 3614"/>
            </a:avLst>
          </a:prstGeom>
          <a:solidFill>
            <a:srgbClr val="FFFFFF"/>
          </a:solidFill>
          <a:ln w="15875">
            <a:solidFill>
              <a:srgbClr val="5B4AA8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5888736" y="450799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3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query_logs 查询日志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888736" y="4837176"/>
            <a:ext cx="17007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user_question · sql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is_success · 耗时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每次查询写入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560320" y="2176272"/>
            <a:ext cx="640080" cy="0"/>
          </a:xfrm>
          <a:prstGeom prst="line">
            <a:avLst/>
          </a:prstGeom>
          <a:noFill/>
          <a:ln w="19050">
            <a:solidFill>
              <a:srgbClr val="6F6A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42032" y="182880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: 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120640" y="2176272"/>
            <a:ext cx="640080" cy="0"/>
          </a:xfrm>
          <a:prstGeom prst="line">
            <a:avLst/>
          </a:prstGeom>
          <a:noFill/>
          <a:ln w="19050">
            <a:solidFill>
              <a:srgbClr val="6F6A8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102352" y="182880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: 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600200" y="2935224"/>
            <a:ext cx="0" cy="813816"/>
          </a:xfrm>
          <a:prstGeom prst="line">
            <a:avLst/>
          </a:prstGeom>
          <a:noFill/>
          <a:ln w="19050">
            <a:solidFill>
              <a:srgbClr val="6F6A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00200" y="3749040"/>
            <a:ext cx="5120640" cy="0"/>
          </a:xfrm>
          <a:prstGeom prst="line">
            <a:avLst/>
          </a:prstGeom>
          <a:noFill/>
          <a:ln w="19050">
            <a:solidFill>
              <a:srgbClr val="6F6A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20840" y="2935224"/>
            <a:ext cx="0" cy="813816"/>
          </a:xfrm>
          <a:prstGeom prst="line">
            <a:avLst/>
          </a:prstGeom>
          <a:noFill/>
          <a:ln w="19050">
            <a:solidFill>
              <a:srgbClr val="6F6A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80360" y="38039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artist_id 直连（1 : N）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 flipH="1">
            <a:off x="5166360" y="2935224"/>
            <a:ext cx="822960" cy="1499616"/>
          </a:xfrm>
          <a:prstGeom prst="line">
            <a:avLst/>
          </a:prstGeom>
          <a:noFill/>
          <a:ln w="19050">
            <a:solidFill>
              <a:srgbClr val="6F6A8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0" y="3886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song_id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560320" y="5193792"/>
            <a:ext cx="640080" cy="0"/>
          </a:xfrm>
          <a:prstGeom prst="line">
            <a:avLst/>
          </a:prstGeom>
          <a:noFill/>
          <a:ln w="19050">
            <a:solidFill>
              <a:srgbClr val="6F6A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542032" y="486460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: 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40080" y="614476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琥珀色 = 事实表 play_records：一条记录代表一次播放，与维度表构成星型访问结构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092440" y="1554480"/>
            <a:ext cx="3520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3E3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职责单一</a:t>
            </a: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张业务表各司其职，query_logs 独立记录 Agent 行为</a:t>
            </a:r>
            <a:endParaRPr lang="en-US" sz="1550" dirty="0"/>
          </a:p>
        </p:txBody>
      </p:sp>
      <p:sp>
        <p:nvSpPr>
          <p:cNvPr id="36" name="Text 34"/>
          <p:cNvSpPr/>
          <p:nvPr/>
        </p:nvSpPr>
        <p:spPr>
          <a:xfrm>
            <a:off x="8092440" y="3035808"/>
            <a:ext cx="3520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3E3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引用完整</a:t>
            </a: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 InnoDB 引擎 + 外键约束，非法数据写不进来</a:t>
            </a:r>
            <a:endParaRPr lang="en-US" sz="1550" dirty="0"/>
          </a:p>
        </p:txBody>
      </p:sp>
      <p:sp>
        <p:nvSpPr>
          <p:cNvPr id="37" name="Text 35"/>
          <p:cNvSpPr/>
          <p:nvPr/>
        </p:nvSpPr>
        <p:spPr>
          <a:xfrm>
            <a:off x="8092440" y="4517136"/>
            <a:ext cx="3520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3E3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星型访问</a:t>
            </a: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事实表居中，按歌曲、用户、时间多路径统计都清晰</a:t>
            </a:r>
            <a:endParaRPr lang="en-US" sz="1550" dirty="0"/>
          </a:p>
        </p:txBody>
      </p:sp>
      <p:sp>
        <p:nvSpPr>
          <p:cNvPr id="38" name="Shape 36"/>
          <p:cNvSpPr/>
          <p:nvPr/>
        </p:nvSpPr>
        <p:spPr>
          <a:xfrm>
            <a:off x="11356848" y="6327648"/>
            <a:ext cx="329184" cy="329184"/>
          </a:xfrm>
          <a:prstGeom prst="ellipse">
            <a:avLst/>
          </a:prstGeom>
          <a:noFill/>
          <a:ln w="15875">
            <a:solidFill>
              <a:srgbClr val="E4E1E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356848" y="6327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· 表结构设计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四个关键设计决策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650" b="1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受控冗余</a:t>
            </a:r>
            <a:endParaRPr lang="en-US" sz="16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songs 同时持有 album_id 与 artist_id：按歌手查歌免二次 JOIN，一致性由导入层保证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650" b="1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满足三范式</a:t>
            </a:r>
            <a:endParaRPr lang="en-US" sz="16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各表非主属性完全、直接依赖于主键；专辑与歌曲中的歌手信息只存 ID 不存名字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640080" y="2542032"/>
            <a:ext cx="6400800" cy="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822192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650" b="1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ENUM 约束</a:t>
            </a:r>
            <a:endParaRPr lang="en-US" sz="16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album_type 取值限定 studio / live / compilation，在数据库层挡住脏数据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40080" y="3712464"/>
            <a:ext cx="6400800" cy="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992624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650" b="1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事实表用 BIGINT</a:t>
            </a:r>
            <a:endParaRPr lang="en-US" sz="16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play_records 增长最快，BIGINT 主键为规模化预留空间（INT 上限约 21 亿）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640080" y="4882896"/>
            <a:ext cx="6400800" cy="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35240" y="14173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测试数据规模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635240" y="18288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464040" y="195681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歌手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635240" y="2670048"/>
            <a:ext cx="3840480" cy="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35240" y="2724912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464040" y="285292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专辑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635240" y="3566160"/>
            <a:ext cx="3840480" cy="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35240" y="3621024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500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9464040" y="3749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歌曲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635240" y="4462272"/>
            <a:ext cx="3840480" cy="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35240" y="4517136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464040" y="464515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635240" y="5358384"/>
            <a:ext cx="3840480" cy="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35240" y="5413248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5000</a:t>
            </a:r>
            <a:endParaRPr lang="en-US" sz="4000" dirty="0"/>
          </a:p>
        </p:txBody>
      </p:sp>
      <p:sp>
        <p:nvSpPr>
          <p:cNvPr id="25" name="Text 23"/>
          <p:cNvSpPr/>
          <p:nvPr/>
        </p:nvSpPr>
        <p:spPr>
          <a:xfrm>
            <a:off x="9464040" y="55778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播放记录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1356848" y="6327648"/>
            <a:ext cx="329184" cy="329184"/>
          </a:xfrm>
          <a:prstGeom prst="ellipse">
            <a:avLst/>
          </a:prstGeom>
          <a:noFill/>
          <a:ln w="15875">
            <a:solidFill>
              <a:srgbClr val="E4E1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356848" y="6327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· 索引设计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为高频查询建索引，并用 EXPLAIN 验证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38988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E30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idx_songs_artist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3703320" y="1389888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songs(artist_id)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178040" y="1389888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按歌手查歌曲、按歌手统计播放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029968"/>
            <a:ext cx="10927080" cy="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10312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E30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idx_songs_genre_year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703320" y="210312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songs(genre, release_year) 复合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178040" y="210312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流派 + 年份组合筛选，最左前缀原则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2743200"/>
            <a:ext cx="10927080" cy="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81635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E30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idx_play_time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703320" y="2816352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play_records(play_time)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178040" y="2816352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按时间范围过滤播放记录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456432"/>
            <a:ext cx="10927080" cy="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529584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E30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idx_play_song_time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703320" y="3529584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play_records(song_id, play_time) 复合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178040" y="3529584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单曲播放量统计：先等值再范围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0" y="4434840"/>
            <a:ext cx="12188952" cy="1874520"/>
          </a:xfrm>
          <a:prstGeom prst="rect">
            <a:avLst/>
          </a:prstGeom>
          <a:solidFill>
            <a:srgbClr val="F1EEFA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4572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3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EXPLAIN 实证（本机 MySQL 8.4.9）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85800" y="4956048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genre + 年份　→ type=range，命中 </a:t>
            </a:r>
            <a:pPr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3E3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idx_songs_genre_year</a:t>
            </a:r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，Using index condition</a:t>
            </a:r>
            <a:endParaRPr lang="en-US" sz="13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song_id + 时间 → 优化器选中复合索引 </a:t>
            </a:r>
            <a:pPr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3E3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idx_play_song_time</a:t>
            </a:r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，Using index（覆盖索引，免回表）</a:t>
            </a:r>
            <a:endParaRPr lang="en-US" sz="13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play_time　　→ type=range，命中 </a:t>
            </a:r>
            <a:pPr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3E3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idx_play_time</a:t>
            </a:r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，扫描行数 240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85800" y="5989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数据来源：music_query 库 EXPLAIN 实测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1356848" y="6327648"/>
            <a:ext cx="329184" cy="329184"/>
          </a:xfrm>
          <a:prstGeom prst="ellipse">
            <a:avLst/>
          </a:prstGeom>
          <a:noFill/>
          <a:ln w="15875">
            <a:solidFill>
              <a:srgbClr val="E4E1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356848" y="6327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· Agent 流程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四步流水线：从问题到回答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15184" cy="3611880"/>
          </a:xfrm>
          <a:prstGeom prst="roundRect">
            <a:avLst>
              <a:gd name="adj" fmla="val 3147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88900" dist="25400" dir="5400000">
              <a:srgbClr val="241F35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49808" y="157276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B4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49808" y="217627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意图判断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49808" y="2697480"/>
            <a:ext cx="2240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只回答 YES / NO</a:t>
            </a:r>
            <a:endParaRPr lang="en-US" sz="1250" dirty="0"/>
          </a:p>
          <a:p>
            <a:pPr marL="127000" indent="-1270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无关问题直接拦截</a:t>
            </a:r>
            <a:endParaRPr lang="en-US" sz="1250" dirty="0"/>
          </a:p>
          <a:p>
            <a:pPr marL="127000" indent="-1270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提示“与音乐数据库无关”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64992" y="1371600"/>
            <a:ext cx="2615184" cy="3611880"/>
          </a:xfrm>
          <a:prstGeom prst="roundRect">
            <a:avLst>
              <a:gd name="adj" fmla="val 3147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88900" dist="25400" dir="5400000">
              <a:srgbClr val="241F35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66160" y="157276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B4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566160" y="217627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 生成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3566160" y="2697480"/>
            <a:ext cx="2240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建表 DDL 全文进 Prompt</a:t>
            </a:r>
            <a:endParaRPr lang="en-US" sz="1250" dirty="0"/>
          </a:p>
          <a:p>
            <a:pPr marL="127000" indent="-1270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严格规则：仅允许 SELECT</a:t>
            </a:r>
            <a:endParaRPr lang="en-US" sz="1250" dirty="0"/>
          </a:p>
          <a:p>
            <a:pPr marL="127000" indent="-1270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剥离代码块与多余解释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81344" y="1371600"/>
            <a:ext cx="2615184" cy="3611880"/>
          </a:xfrm>
          <a:prstGeom prst="roundRect">
            <a:avLst>
              <a:gd name="adj" fmla="val 3147"/>
            </a:avLst>
          </a:prstGeom>
          <a:solidFill>
            <a:srgbClr val="F1EEFA"/>
          </a:solidFill>
          <a:ln w="19050">
            <a:solidFill>
              <a:srgbClr val="5B4AA8"/>
            </a:solidFill>
            <a:prstDash val="solid"/>
          </a:ln>
          <a:effectLst>
            <a:outerShdw sx="100000" sy="100000" kx="0" ky="0" algn="bl" rotWithShape="0" blurRad="88900" dist="25400" dir="5400000">
              <a:srgbClr val="241F35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82512" y="157276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B4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382512" y="217627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执行校验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6382512" y="2697480"/>
            <a:ext cx="2240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白名单 + 黑名单双校验</a:t>
            </a:r>
            <a:endParaRPr lang="en-US" sz="1250" dirty="0"/>
          </a:p>
          <a:p>
            <a:pPr marL="127000" indent="-1270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报错回传 LLM 自动修正</a:t>
            </a:r>
            <a:endParaRPr lang="en-US" sz="1250" dirty="0"/>
          </a:p>
          <a:p>
            <a:pPr marL="127000" indent="-1270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最多重试 2 次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997696" y="1371600"/>
            <a:ext cx="2615184" cy="3611880"/>
          </a:xfrm>
          <a:prstGeom prst="roundRect">
            <a:avLst>
              <a:gd name="adj" fmla="val 3147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88900" dist="25400" dir="5400000">
              <a:srgbClr val="241F35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57276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B4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198864" y="217627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结果解释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9198864" y="2697480"/>
            <a:ext cx="2240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结果转 JSON，截取前 15 条</a:t>
            </a:r>
            <a:endParaRPr lang="en-US" sz="1250" dirty="0"/>
          </a:p>
          <a:p>
            <a:pPr marL="127000" indent="-1270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 ≤50 字中文结论</a:t>
            </a:r>
            <a:endParaRPr lang="en-US" sz="1250" dirty="0"/>
          </a:p>
          <a:p>
            <a:pPr marL="127000" indent="-1270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解释失败不影响查询本身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0" y="5349240"/>
            <a:ext cx="12188952" cy="868680"/>
          </a:xfrm>
          <a:prstGeom prst="rect">
            <a:avLst/>
          </a:prstGeom>
          <a:solidFill>
            <a:srgbClr val="E9E4F7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53492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3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单一数据源　</a:t>
            </a:r>
            <a:pPr indent="0" marL="0">
              <a:buNone/>
            </a:pPr>
            <a:r>
              <a:rPr lang="en-US" sz="1400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Prompt 中的表结构运行时直接读取 db/schema.sql —— 修改表结构无需同步修改提示词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1356848" y="6327648"/>
            <a:ext cx="329184" cy="329184"/>
          </a:xfrm>
          <a:prstGeom prst="ellipse">
            <a:avLst/>
          </a:prstGeom>
          <a:noFill/>
          <a:ln w="15875">
            <a:solidFill>
              <a:srgbClr val="E4E1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356848" y="6327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· 安全设计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三道防线，挡住 LLM 的“手滑”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57276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508760" y="1517904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650" b="1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语句白名单</a:t>
            </a:r>
            <a:endParaRPr lang="en-US" sz="16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只放行 SELECT / WITH 开头的查询，其余一律拒绝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" y="2990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508760" y="2935224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650" b="1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关键词黑名单</a:t>
            </a:r>
            <a:endParaRPr lang="en-US" sz="16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正则拦截 DROP、DELETE、UPDATE、INSERT、ALTER、TRUNCATE 等高危词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640080" y="440740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508760" y="4352544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650" b="1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全程留痕</a:t>
            </a:r>
            <a:endParaRPr lang="en-US" sz="16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query_logs 记录问题、SQL、是否成功、耗时——被拦截的请求同样可追溯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6537960" y="1463040"/>
            <a:ext cx="196596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5B4A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146304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 SQL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537960" y="2395728"/>
            <a:ext cx="196596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5B4A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37960" y="2395728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安全校验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537960" y="3328416"/>
            <a:ext cx="196596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5B4A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3328416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37960" y="4261104"/>
            <a:ext cx="1965960" cy="548640"/>
          </a:xfrm>
          <a:prstGeom prst="roundRect">
            <a:avLst>
              <a:gd name="adj" fmla="val 11667"/>
            </a:avLst>
          </a:prstGeom>
          <a:solidFill>
            <a:srgbClr val="5B4AA8"/>
          </a:solidFill>
          <a:ln w="12700">
            <a:solidFill>
              <a:srgbClr val="5B4A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4261104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写日志 · 返回结果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516368" y="2011680"/>
            <a:ext cx="0" cy="365760"/>
          </a:xfrm>
          <a:prstGeom prst="line">
            <a:avLst/>
          </a:prstGeom>
          <a:noFill/>
          <a:ln w="19050">
            <a:solidFill>
              <a:srgbClr val="6F6A80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7635240" y="20482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516368" y="2944368"/>
            <a:ext cx="0" cy="365760"/>
          </a:xfrm>
          <a:prstGeom prst="line">
            <a:avLst/>
          </a:prstGeom>
          <a:noFill/>
          <a:ln w="19050">
            <a:solidFill>
              <a:srgbClr val="6F6A80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7635240" y="298094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516368" y="3877056"/>
            <a:ext cx="0" cy="365760"/>
          </a:xfrm>
          <a:prstGeom prst="line">
            <a:avLst/>
          </a:prstGeom>
          <a:noFill/>
          <a:ln w="19050">
            <a:solidFill>
              <a:srgbClr val="6F6A80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7635240" y="391363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281160" y="3328416"/>
            <a:ext cx="1965960" cy="548640"/>
          </a:xfrm>
          <a:prstGeom prst="roundRect">
            <a:avLst>
              <a:gd name="adj" fmla="val 11667"/>
            </a:avLst>
          </a:prstGeom>
          <a:solidFill>
            <a:srgbClr val="FDF3E1"/>
          </a:solidFill>
          <a:ln w="12700">
            <a:solidFill>
              <a:srgbClr val="5B4AA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81160" y="3328416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报错回传 LLM 修正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8522208" y="3602736"/>
            <a:ext cx="740664" cy="0"/>
          </a:xfrm>
          <a:prstGeom prst="line">
            <a:avLst/>
          </a:prstGeom>
          <a:noFill/>
          <a:ln w="19050">
            <a:solidFill>
              <a:srgbClr val="6F6A80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8613648" y="32918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6A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0259568" y="2670048"/>
            <a:ext cx="0" cy="640080"/>
          </a:xfrm>
          <a:prstGeom prst="line">
            <a:avLst/>
          </a:prstGeom>
          <a:noFill/>
          <a:ln w="19050">
            <a:solidFill>
              <a:srgbClr val="9A6A1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522208" y="2670048"/>
            <a:ext cx="1737360" cy="0"/>
          </a:xfrm>
          <a:prstGeom prst="line">
            <a:avLst/>
          </a:prstGeom>
          <a:noFill/>
          <a:ln w="19050">
            <a:solidFill>
              <a:srgbClr val="9A6A12"/>
            </a:solidFill>
            <a:prstDash val="solid"/>
            <a:headEnd type="triangle"/>
          </a:ln>
        </p:spPr>
      </p:sp>
      <p:sp>
        <p:nvSpPr>
          <p:cNvPr id="30" name="Text 28"/>
          <p:cNvSpPr/>
          <p:nvPr/>
        </p:nvSpPr>
        <p:spPr>
          <a:xfrm>
            <a:off x="8732520" y="234086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6A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修正后重新校验（≤ 2 次）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537960" y="507492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示例：要求“删除所有播放记录”时，DELETE 命中黑名单，请求被拒并写入日志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11356848" y="6327648"/>
            <a:ext cx="329184" cy="329184"/>
          </a:xfrm>
          <a:prstGeom prst="ellipse">
            <a:avLst/>
          </a:prstGeom>
          <a:noFill/>
          <a:ln w="15875">
            <a:solidFill>
              <a:srgbClr val="E4E1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356848" y="6327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· 现场演示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演示脚本：由浅入深 + 两个特殊场景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989320" cy="4709160"/>
          </a:xfrm>
          <a:prstGeom prst="roundRect">
            <a:avLst>
              <a:gd name="adj" fmla="val 1748"/>
            </a:avLst>
          </a:prstGeom>
          <a:solidFill>
            <a:srgbClr val="FFFFFF"/>
          </a:solidFill>
          <a:ln w="15875">
            <a:solidFill>
              <a:srgbClr val="E4E1EE"/>
            </a:solidFill>
            <a:prstDash val="solid"/>
          </a:ln>
          <a:effectLst>
            <a:outerShdw sx="100000" sy="100000" kx="0" ky="0" algn="bl" rotWithShape="0" blurRad="101600" dist="25400" dir="5400000">
              <a:srgbClr val="241F35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5361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3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MusicQuery Agent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1920240"/>
            <a:ext cx="3886200" cy="402336"/>
          </a:xfrm>
          <a:prstGeom prst="roundRect">
            <a:avLst>
              <a:gd name="adj" fmla="val 15909"/>
            </a:avLst>
          </a:prstGeom>
          <a:noFill/>
          <a:ln w="15875">
            <a:solidFill>
              <a:srgbClr val="E4E1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920240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请输入你的问题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46320" y="1920240"/>
            <a:ext cx="685800" cy="402336"/>
          </a:xfrm>
          <a:prstGeom prst="roundRect">
            <a:avLst>
              <a:gd name="adj" fmla="val 15909"/>
            </a:avLst>
          </a:prstGeom>
          <a:solidFill>
            <a:srgbClr val="E8A33D"/>
          </a:solidFill>
          <a:ln/>
        </p:spPr>
      </p:sp>
      <p:sp>
        <p:nvSpPr>
          <p:cNvPr id="9" name="Text 7"/>
          <p:cNvSpPr/>
          <p:nvPr/>
        </p:nvSpPr>
        <p:spPr>
          <a:xfrm>
            <a:off x="4846320" y="1920240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2542032"/>
            <a:ext cx="416052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5875">
            <a:solidFill>
              <a:srgbClr val="E4E1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2633472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3E3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生成的 SQL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SELECT s.title, COUNT(*) … LIMIT 5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3474720"/>
            <a:ext cx="416052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5875">
            <a:solidFill>
              <a:srgbClr val="E4E1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356616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3E3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查询结果（表格）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5 条记录 · SQL 执行 12 ms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4407408"/>
            <a:ext cx="4160520" cy="777240"/>
          </a:xfrm>
          <a:prstGeom prst="roundRect">
            <a:avLst>
              <a:gd name="adj" fmla="val 7059"/>
            </a:avLst>
          </a:prstGeom>
          <a:solidFill>
            <a:srgbClr val="F1EEFA"/>
          </a:solidFill>
          <a:ln w="15875">
            <a:solidFill>
              <a:srgbClr val="E4E1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4498848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3E3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自然语言回答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《一个人的烟火》以 194 次播放居首……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23560" y="1920240"/>
            <a:ext cx="0" cy="393192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0" y="2377440"/>
            <a:ext cx="777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70000"/>
              </a:lnSpc>
              <a:buNone/>
            </a:pPr>
            <a:r>
              <a:rPr lang="en-US" sz="12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</a:t>
            </a:r>
            <a:endParaRPr lang="en-US" sz="1250" dirty="0"/>
          </a:p>
          <a:p>
            <a:pPr algn="ctr" indent="0" marL="0">
              <a:lnSpc>
                <a:spcPct val="170000"/>
              </a:lnSpc>
              <a:buNone/>
            </a:pPr>
            <a:r>
              <a:rPr lang="en-US" sz="12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</a:t>
            </a:r>
            <a:endParaRPr lang="en-US" sz="1250" dirty="0"/>
          </a:p>
          <a:p>
            <a:pPr algn="ctr" indent="0" marL="0">
              <a:lnSpc>
                <a:spcPct val="170000"/>
              </a:lnSpc>
              <a:buNone/>
            </a:pPr>
            <a:r>
              <a:rPr lang="en-US" sz="12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</a:t>
            </a:r>
            <a:endParaRPr lang="en-US" sz="1250" dirty="0"/>
          </a:p>
          <a:p>
            <a:pPr algn="ctr" indent="0" marL="0">
              <a:lnSpc>
                <a:spcPct val="170000"/>
              </a:lnSpc>
              <a:buNone/>
            </a:pPr>
            <a:r>
              <a:rPr lang="en-US" sz="12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903720" y="1444752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“播放量最高的前 5 首歌？”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三表 JOIN + ORDER BY + LIMIT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903720" y="228600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“一共有多少首流行歌曲？”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COUNT 聚合查询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903720" y="3127248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“今天天气怎么样？”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意图守门员：与音乐数据库无关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903720" y="3968496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“删除所有播放记录”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黑名单拦截，日志 is_success = 0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903720" y="4809744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侧边栏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本次耗时、成功状态、历史可回溯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903720" y="571500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兜底预案：手机热点保障外网；另备一组成功运行截图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1356848" y="6327648"/>
            <a:ext cx="329184" cy="329184"/>
          </a:xfrm>
          <a:prstGeom prst="ellipse">
            <a:avLst/>
          </a:prstGeom>
          <a:noFill/>
          <a:ln w="15875">
            <a:solidFill>
              <a:srgbClr val="E4E1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356848" y="6327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· 数据设计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41F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长尾分布：让“播放量排名”有区分度</a:t>
            </a:r>
            <a:endParaRPr lang="en-US" sz="2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65836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543800" y="1600200"/>
            <a:ext cx="4069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3E3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5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均匀随机：播放量挤在均值 ±5，前五名全是并列，排名没有信息量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7543800" y="3017520"/>
            <a:ext cx="4069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9A6A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</a:t>
            </a:r>
            <a:endParaRPr lang="en-US" sz="15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对数正态热度：头部歌曲 194 次、长尾歌曲个位数，贴近真实产品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7543800" y="4434840"/>
            <a:ext cx="4069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3E3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</a:t>
            </a:r>
            <a:endParaRPr lang="en-US" sz="15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数据量保持 5000 条（任务书要求）——只改分布，不改数量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548640" y="626364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数据来源：music_query 库实测查询（data/import_data.py 生成）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11356848" y="6327648"/>
            <a:ext cx="329184" cy="329184"/>
          </a:xfrm>
          <a:prstGeom prst="ellipse">
            <a:avLst/>
          </a:prstGeom>
          <a:noFill/>
          <a:ln w="15875">
            <a:solidFill>
              <a:srgbClr val="E4E1E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1356848" y="6327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F6A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6868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谢谢聆听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178308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B3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请各位老师批评指正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40080" y="260604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4015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9B3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张表 · 三范式设计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429000" y="260604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429000" y="34015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9B3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个索引 · EXPLAIN 实证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217920" y="260604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217920" y="34015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9B3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道安全防线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006840" y="260604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9006840" y="34015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9B3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次失败自动重试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0080" y="4343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后续改进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0080" y="475488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500" dirty="0">
                <a:solidFill>
                  <a:srgbClr val="E8E4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应用账号只授 SELECT 权限，把安全防线下沉到数据库层</a:t>
            </a:r>
            <a:endParaRPr lang="en-US" sz="15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500" dirty="0">
                <a:solidFill>
                  <a:srgbClr val="E8E4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构建 few-shot 示例库，提升复杂问句的 SQL 生成准确率</a:t>
            </a:r>
            <a:endParaRPr lang="en-US" sz="15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500" dirty="0">
                <a:solidFill>
                  <a:srgbClr val="E8E4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引入结果缓存与连接池，支撑更高并发查询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692640" y="4617720"/>
            <a:ext cx="2011680" cy="2011680"/>
          </a:xfrm>
          <a:prstGeom prst="ellipse">
            <a:avLst/>
          </a:prstGeom>
          <a:noFill/>
          <a:ln w="15875">
            <a:solidFill>
              <a:srgbClr val="2E265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58400" y="4983480"/>
            <a:ext cx="1463040" cy="1463040"/>
          </a:xfrm>
          <a:prstGeom prst="ellipse">
            <a:avLst/>
          </a:prstGeom>
          <a:noFill/>
          <a:ln w="15875">
            <a:solidFill>
              <a:srgbClr val="38305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652760" y="5577840"/>
            <a:ext cx="274320" cy="274320"/>
          </a:xfrm>
          <a:prstGeom prst="ellipse">
            <a:avLst/>
          </a:prstGeom>
          <a:solidFill>
            <a:srgbClr val="E8A33D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MusicQuery Agent 答辩</dc:title>
  <dc:subject>PptxGenJS Presentation</dc:subject>
  <dc:creator>MusicQuery Agent</dc:creator>
  <cp:lastModifiedBy>MusicQuery Agent</cp:lastModifiedBy>
  <cp:revision>1</cp:revision>
  <dcterms:created xsi:type="dcterms:W3CDTF">2026-09-18T17:59:11Z</dcterms:created>
  <dcterms:modified xsi:type="dcterms:W3CDTF">2026-09-18T17:59:11Z</dcterms:modified>
</cp:coreProperties>
</file>